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SIGA conecta la vida académica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Una vista coherente para cada responsabilidad.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1  ·  1/2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01 /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624328"/>
            <a:ext cx="7095744" cy="2697480"/>
          </a:xfrm>
          <a:prstGeom prst="roundRect">
            <a:avLst>
              <a:gd name="adj" fmla="val 9000"/>
            </a:avLst>
          </a:prstGeom>
          <a:solidFill>
            <a:srgbClr val="123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89504"/>
            <a:ext cx="25603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600" b="1">
                <a:solidFill>
                  <a:srgbClr val="F4FAF9"/>
                </a:solidFill>
                <a:latin typeface="Segoe UI"/>
              </a:rPr>
              <a:t>Registros dispersos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907792"/>
            <a:ext cx="566928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89504"/>
            <a:ext cx="3081528" cy="4754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600" b="1">
                <a:solidFill>
                  <a:srgbClr val="66DDD0"/>
                </a:solidFill>
                <a:latin typeface="Segoe UI"/>
              </a:rPr>
              <a:t>Información relacionada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58768"/>
            <a:ext cx="6245352" cy="6858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0">
                <a:solidFill>
                  <a:srgbClr val="F4FAF9"/>
                </a:solidFill>
                <a:latin typeface="Segoe UI"/>
              </a:rPr>
              <a:t>Fichas, matrículas y resultados se consultan con permisos por rol.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690872"/>
            <a:ext cx="6355080" cy="33832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800" b="1">
                <a:solidFill>
                  <a:srgbClr val="C5DFDC"/>
                </a:solidFill>
                <a:latin typeface="Segoe UI"/>
              </a:rPr>
              <a:t>ADMIN  ·  SECRETARIA  ·  DOCENTE  ·  ESTUDIANTE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2862072"/>
            <a:ext cx="2880360" cy="2194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08" y="3474720"/>
            <a:ext cx="2542032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Tres niveles, un alcance definido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Construido por sprints para demostrar flujos académicos.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1  · 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02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834640"/>
            <a:ext cx="3429000" cy="56692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100" b="1">
                <a:solidFill>
                  <a:srgbClr val="66DDD0"/>
                </a:solidFill>
                <a:latin typeface="Segoe UI"/>
              </a:rPr>
              <a:t>Inicial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8952" y="3529584"/>
            <a:ext cx="3337559" cy="0"/>
          </a:xfrm>
          <a:prstGeom prst="line">
            <a:avLst/>
          </a:prstGeom>
          <a:ln w="38100">
            <a:solidFill>
              <a:srgbClr val="E676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8952" y="3767328"/>
            <a:ext cx="3291840" cy="4114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100" b="0">
                <a:solidFill>
                  <a:srgbClr val="F4FAF9"/>
                </a:solidFill>
                <a:latin typeface="Segoe UI"/>
              </a:rPr>
              <a:t>3 grados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34640"/>
            <a:ext cx="3429000" cy="56692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100" b="1">
                <a:solidFill>
                  <a:srgbClr val="66DDD0"/>
                </a:solidFill>
                <a:latin typeface="Segoe UI"/>
              </a:rPr>
              <a:t>Primaria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0" y="3529584"/>
            <a:ext cx="3337560" cy="0"/>
          </a:xfrm>
          <a:prstGeom prst="line">
            <a:avLst/>
          </a:prstGeom>
          <a:ln w="381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0" y="3767328"/>
            <a:ext cx="3291840" cy="4114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100" b="0">
                <a:solidFill>
                  <a:srgbClr val="F4FAF9"/>
                </a:solidFill>
                <a:latin typeface="Segoe UI"/>
              </a:rPr>
              <a:t>6 grados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834640"/>
            <a:ext cx="3429000" cy="56692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100" b="1">
                <a:solidFill>
                  <a:srgbClr val="66DDD0"/>
                </a:solidFill>
                <a:latin typeface="Segoe UI"/>
              </a:rPr>
              <a:t>Secundaria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85048" y="3529584"/>
            <a:ext cx="3337560" cy="0"/>
          </a:xfrm>
          <a:prstGeom prst="line">
            <a:avLst/>
          </a:prstGeom>
          <a:ln w="381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85048" y="3767328"/>
            <a:ext cx="3291840" cy="4114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100" b="0">
                <a:solidFill>
                  <a:srgbClr val="F4FAF9"/>
                </a:solidFill>
                <a:latin typeface="Segoe UI"/>
              </a:rPr>
              <a:t>5 grados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782312"/>
            <a:ext cx="10671048" cy="1051560"/>
          </a:xfrm>
          <a:prstGeom prst="roundRect">
            <a:avLst>
              <a:gd name="adj" fmla="val 9000"/>
            </a:avLst>
          </a:prstGeom>
          <a:solidFill>
            <a:srgbClr val="123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4946904"/>
            <a:ext cx="10040112" cy="3200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Incluye cuentas, estructura, matrículas, cursos, notas y asistencia.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1" y="5340096"/>
            <a:ext cx="10040112" cy="31089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800" b="0">
                <a:solidFill>
                  <a:srgbClr val="C5DFDC"/>
                </a:solidFill>
                <a:latin typeface="Segoe UI"/>
              </a:rPr>
              <a:t>No sustituye SIAGIE ni la evaluación oficial por competencias.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Una solicitud atraviesa cuatro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El navegador nunca se conecta directamente a PostgreSQL.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2  ·  1/2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03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999232"/>
            <a:ext cx="2487168" cy="1435608"/>
          </a:xfrm>
          <a:prstGeom prst="roundRect">
            <a:avLst>
              <a:gd name="adj" fmla="val 9000"/>
            </a:avLst>
          </a:prstGeom>
          <a:solidFill>
            <a:srgbClr val="12343B"/>
          </a:solidFill>
          <a:ln w="12700">
            <a:solidFill>
              <a:srgbClr val="3A7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09544"/>
            <a:ext cx="21945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66DDD0"/>
                </a:solidFill>
                <a:latin typeface="Segoe UI"/>
              </a:rPr>
              <a:t>React + Vite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76472"/>
            <a:ext cx="2221992" cy="3200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1800" b="0">
                <a:solidFill>
                  <a:srgbClr val="F4FAF9"/>
                </a:solidFill>
                <a:latin typeface="Segoe UI"/>
              </a:rPr>
              <a:t>Vercel / navegador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7832" y="3465576"/>
            <a:ext cx="3657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1880" y="2999232"/>
            <a:ext cx="2487168" cy="1435608"/>
          </a:xfrm>
          <a:prstGeom prst="roundRect">
            <a:avLst>
              <a:gd name="adj" fmla="val 9000"/>
            </a:avLst>
          </a:prstGeom>
          <a:solidFill>
            <a:srgbClr val="12343B"/>
          </a:solidFill>
          <a:ln w="12700">
            <a:solidFill>
              <a:srgbClr val="3A7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3209544"/>
            <a:ext cx="21945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66DDD0"/>
                </a:solidFill>
                <a:latin typeface="Segoe UI"/>
              </a:rPr>
              <a:t>Express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776472"/>
            <a:ext cx="2221992" cy="3200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1800" b="0">
                <a:solidFill>
                  <a:srgbClr val="F4FAF9"/>
                </a:solidFill>
                <a:latin typeface="Segoe UI"/>
              </a:rPr>
              <a:t>API / Render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3465576"/>
            <a:ext cx="3657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28816" y="2999232"/>
            <a:ext cx="2487168" cy="1435608"/>
          </a:xfrm>
          <a:prstGeom prst="roundRect">
            <a:avLst>
              <a:gd name="adj" fmla="val 9000"/>
            </a:avLst>
          </a:prstGeom>
          <a:solidFill>
            <a:srgbClr val="12343B"/>
          </a:solidFill>
          <a:ln w="12700">
            <a:solidFill>
              <a:srgbClr val="3A7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209544"/>
            <a:ext cx="21945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66DDD0"/>
                </a:solidFill>
                <a:latin typeface="Segoe UI"/>
              </a:rPr>
              <a:t>Prisma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831" y="3776472"/>
            <a:ext cx="2221992" cy="3200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1800" b="0">
                <a:solidFill>
                  <a:srgbClr val="F4FAF9"/>
                </a:solidFill>
                <a:latin typeface="Segoe UI"/>
              </a:rPr>
              <a:t>Servicios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3465576"/>
            <a:ext cx="3657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5752" y="2999232"/>
            <a:ext cx="2487168" cy="1435608"/>
          </a:xfrm>
          <a:prstGeom prst="roundRect">
            <a:avLst>
              <a:gd name="adj" fmla="val 9000"/>
            </a:avLst>
          </a:prstGeom>
          <a:solidFill>
            <a:srgbClr val="12343B"/>
          </a:solidFill>
          <a:ln w="12700">
            <a:solidFill>
              <a:srgbClr val="3A7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92056" y="3209544"/>
            <a:ext cx="21945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400" b="1">
                <a:solidFill>
                  <a:srgbClr val="66DDD0"/>
                </a:solidFill>
                <a:latin typeface="Segoe UI"/>
              </a:rPr>
              <a:t>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73768" y="3776472"/>
            <a:ext cx="2221992" cy="3200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1800" b="0">
                <a:solidFill>
                  <a:srgbClr val="F4FAF9"/>
                </a:solidFill>
                <a:latin typeface="Segoe UI"/>
              </a:rPr>
              <a:t>Datos y restricciones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2688" y="5084064"/>
            <a:ext cx="10314432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05840" y="5285232"/>
            <a:ext cx="10241280" cy="38404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200" b="1">
                <a:solidFill>
                  <a:srgbClr val="F4FAF9"/>
                </a:solidFill>
                <a:latin typeface="Segoe UI"/>
              </a:rPr>
              <a:t>Petición → validación y permiso → consulta → respuesta segura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MODELO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La base sostiene la integridad académica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UUID identifica; claves compuestas mantienen relaciones correctas.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2  · 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04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98064"/>
            <a:ext cx="1600200" cy="42976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300" b="1">
                <a:solidFill>
                  <a:srgbClr val="66DDD0"/>
                </a:solidFill>
                <a:latin typeface="Segoe UI"/>
              </a:rPr>
              <a:t>Nivel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0008" y="2816352"/>
            <a:ext cx="521207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798064"/>
            <a:ext cx="1600200" cy="42976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300" b="1">
                <a:solidFill>
                  <a:srgbClr val="66DDD0"/>
                </a:solidFill>
                <a:latin typeface="Segoe UI"/>
              </a:rPr>
              <a:t>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16352"/>
            <a:ext cx="521207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798064"/>
            <a:ext cx="1874519" cy="42976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300" b="1">
                <a:solidFill>
                  <a:srgbClr val="66DDD0"/>
                </a:solidFill>
                <a:latin typeface="Segoe UI"/>
              </a:rPr>
              <a:t>Sección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98064"/>
            <a:ext cx="2130552" cy="42976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300" b="1">
                <a:solidFill>
                  <a:srgbClr val="E6762F"/>
                </a:solidFill>
                <a:latin typeface="Segoe UI"/>
              </a:rPr>
              <a:t>+ Periodo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3816" y="3429000"/>
            <a:ext cx="10332720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3849624"/>
            <a:ext cx="1645920" cy="4206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F4FAF9"/>
                </a:solidFill>
                <a:latin typeface="Segoe UI"/>
              </a:rPr>
              <a:t>Student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0864" y="3858768"/>
            <a:ext cx="50292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849624"/>
            <a:ext cx="1938528" cy="4206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F4FAF9"/>
                </a:solidFill>
                <a:latin typeface="Segoe UI"/>
              </a:rPr>
              <a:t>Enrollment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858768"/>
            <a:ext cx="50292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22392" y="3849624"/>
            <a:ext cx="5385816" cy="4206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66DDD0"/>
                </a:solidFill>
                <a:latin typeface="Segoe UI"/>
              </a:rPr>
              <a:t>GradeRecord / AttendanceRecord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846320"/>
            <a:ext cx="10469880" cy="7315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Misma sección para matrícula y asignación; periodo derivado de la sección.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" y="5715000"/>
            <a:ext cx="10460736" cy="91440"/>
          </a:xfrm>
          <a:prstGeom prst="rect">
            <a:avLst/>
          </a:prstGeom>
          <a:solidFill>
            <a:srgbClr val="E67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Los permisos se deciden en la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Rol permitido y recurso propio son comprobaciones diferentes.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3  ·  1/2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05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660904"/>
            <a:ext cx="2231136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66DDD0"/>
                </a:solidFill>
                <a:latin typeface="Segoe UI"/>
              </a:rPr>
              <a:t>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2660904"/>
            <a:ext cx="5074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Gestiona usuarios y corrige registros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60904"/>
            <a:ext cx="2834640" cy="5029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800" b="0">
                <a:solidFill>
                  <a:srgbClr val="C5DFDC"/>
                </a:solidFill>
                <a:latin typeface="Segoe UI"/>
              </a:rPr>
              <a:t>Todos los módulos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" y="3410712"/>
            <a:ext cx="104790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4672" y="3483864"/>
            <a:ext cx="2231136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66DDD0"/>
                </a:solidFill>
                <a:latin typeface="Segoe UI"/>
              </a:rPr>
              <a:t>SECRETARIA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1528" y="3483864"/>
            <a:ext cx="5074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Organiza estructura y matrículas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483864"/>
            <a:ext cx="2834640" cy="5029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800" b="0">
                <a:solidFill>
                  <a:srgbClr val="C5DFDC"/>
                </a:solidFill>
                <a:latin typeface="Segoe UI"/>
              </a:rPr>
              <a:t>Consulta registros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5528" y="4233672"/>
            <a:ext cx="104790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4672" y="4306824"/>
            <a:ext cx="2231136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66DDD0"/>
                </a:solidFill>
                <a:latin typeface="Segoe UI"/>
              </a:rPr>
              <a:t>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1528" y="4306824"/>
            <a:ext cx="5074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Registra notas y asistencia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306824"/>
            <a:ext cx="2834640" cy="5029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800" b="0">
                <a:solidFill>
                  <a:srgbClr val="C5DFDC"/>
                </a:solidFill>
                <a:latin typeface="Segoe UI"/>
              </a:rPr>
              <a:t>Solo asignaciones propias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5528" y="5056632"/>
            <a:ext cx="104790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4672" y="5129784"/>
            <a:ext cx="2231136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66DDD0"/>
                </a:solidFill>
                <a:latin typeface="Segoe UI"/>
              </a:rPr>
              <a:t>ESTUDIANTE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1528" y="5129784"/>
            <a:ext cx="5074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Consulta sus resultados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129784"/>
            <a:ext cx="2834640" cy="5029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800" b="0">
                <a:solidFill>
                  <a:srgbClr val="C5DFDC"/>
                </a:solidFill>
                <a:latin typeface="Segoe UI"/>
              </a:rPr>
              <a:t>Solo matrículas propias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980176"/>
            <a:ext cx="10652760" cy="36576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E6762F"/>
                </a:solidFill>
                <a:latin typeface="Segoe UI"/>
              </a:rPr>
              <a:t>Ocultar una opción en React no sustituye la autorización del backend.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ADMINISTRACIÓN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Cuenta y ficha cumplen funciones distintas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La estructura se organiza antes de matricular.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3  · 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06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62072"/>
            <a:ext cx="2752344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Cuenta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2871216"/>
            <a:ext cx="530352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862072"/>
            <a:ext cx="7050024" cy="53035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F4FAF9"/>
                </a:solidFill>
                <a:latin typeface="Segoe UI"/>
              </a:rPr>
              <a:t>Student opcional / Teacher obligatorio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657600"/>
            <a:ext cx="10451592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187952"/>
            <a:ext cx="1947672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Nivel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3744" y="4187952"/>
            <a:ext cx="45720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4187952"/>
            <a:ext cx="19659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Grado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4187952"/>
            <a:ext cx="45720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2976" y="4187952"/>
            <a:ext cx="2249424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Sección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4187952"/>
            <a:ext cx="2386584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E6762F"/>
                </a:solidFill>
                <a:latin typeface="Segoe UI"/>
              </a:rPr>
              <a:t>+ Periodo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22392"/>
            <a:ext cx="1042416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100" b="0">
                <a:solidFill>
                  <a:srgbClr val="C5DFDC"/>
                </a:solidFill>
                <a:latin typeface="Segoe UI"/>
              </a:rPr>
              <a:t>Una ficha Student puede existir sin cuenta de acceso.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FLUJO ACADÉMICO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Del curso a la matrícula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El nombre de Student es principal; el código ayuda a identificar.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4  ·  1/2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07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61488"/>
            <a:ext cx="4572000" cy="48463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Curso + sección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4572000" cy="6675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Una asignación indica el docente actual.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33087"/>
            <a:ext cx="4572000" cy="48463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Matrícula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4572000" cy="6675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Una por estudiante y periodo; cancelada se conserva.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4983480" cy="4206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800" b="1">
                <a:solidFill>
                  <a:srgbClr val="E6762F"/>
                </a:solidFill>
                <a:latin typeface="Segoe UI"/>
              </a:rPr>
              <a:t>Traslado con registros: 409, sin pérdida de historial.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61304" y="2706624"/>
            <a:ext cx="5431536" cy="3127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ricu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2779360"/>
            <a:ext cx="5303520" cy="29817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EXPERIENCIA POR 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Del aula al resultado del 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La asignación y la matrícula deben corresponder a la misma sección.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4  · 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08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926080"/>
            <a:ext cx="566928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E6762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520440"/>
            <a:ext cx="2496312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66DDD0"/>
                </a:solidFill>
                <a:latin typeface="Segoe UI"/>
              </a:rPr>
              <a:t>DOCENTE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041648"/>
            <a:ext cx="2468880" cy="6309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Mi aula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9816" y="3557016"/>
            <a:ext cx="393192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926080"/>
            <a:ext cx="566928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E6762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3520440"/>
            <a:ext cx="2496312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66DDD0"/>
                </a:solidFill>
                <a:latin typeface="Segoe UI"/>
              </a:rPr>
              <a:t>MATRÍCULA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9312" y="4041648"/>
            <a:ext cx="2468880" cy="6309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Estudiante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3557016"/>
            <a:ext cx="393192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926080"/>
            <a:ext cx="566928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E6762F"/>
                </a:solidFill>
                <a:latin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8" y="3520440"/>
            <a:ext cx="2496312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66DDD0"/>
                </a:solidFill>
                <a:latin typeface="Segoe UI"/>
              </a:rPr>
              <a:t>REGISTRO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4041648"/>
            <a:ext cx="2468880" cy="6309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Nota · asistencia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3557016"/>
            <a:ext cx="393192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ctr"/>
            <a:r>
              <a:rPr sz="2800" b="1">
                <a:solidFill>
                  <a:srgbClr val="66DDD0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926080"/>
            <a:ext cx="566928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200" b="1">
                <a:solidFill>
                  <a:srgbClr val="E6762F"/>
                </a:solidFill>
                <a:latin typeface="Segoe U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3184" y="3520440"/>
            <a:ext cx="2496312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66DDD0"/>
                </a:solidFill>
                <a:latin typeface="Segoe UI"/>
              </a:rPr>
              <a:t>ESTUDIANTE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3184" y="4041648"/>
            <a:ext cx="2468880" cy="6309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Consulta propia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50392" y="5138928"/>
            <a:ext cx="10424160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50392" y="5376672"/>
            <a:ext cx="10451592" cy="5029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Una nota por curso y bimestre es una simplificación del proyecto.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AUTENTICACIÓN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Cambiar la contraseña invalida los JWT anteriores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Firma, expiración y versión se comprueban con la cuenta actual.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5  ·  1/2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09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651760"/>
            <a:ext cx="566928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E6762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2651760"/>
            <a:ext cx="2615184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400" b="1">
                <a:solidFill>
                  <a:srgbClr val="66DDD0"/>
                </a:solidFill>
                <a:latin typeface="Segoe UI"/>
              </a:rPr>
              <a:t>bcrypt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2651760"/>
            <a:ext cx="72237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Solo se guarda un hash protegido.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5528" y="3246120"/>
            <a:ext cx="1043330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8" y="3392424"/>
            <a:ext cx="566928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E6762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3392424"/>
            <a:ext cx="2615184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400" b="1">
                <a:solidFill>
                  <a:srgbClr val="66DDD0"/>
                </a:solidFill>
                <a:latin typeface="Segoe UI"/>
              </a:rPr>
              <a:t>JWT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3392424"/>
            <a:ext cx="72237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Sub, expiración y tokenVersion.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5528" y="3986784"/>
            <a:ext cx="1043330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4133087"/>
            <a:ext cx="566928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E6762F"/>
                </a:solidFill>
                <a:latin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133087"/>
            <a:ext cx="2615184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400" b="1">
                <a:solidFill>
                  <a:srgbClr val="66DDD0"/>
                </a:solidFill>
                <a:latin typeface="Segoe UI"/>
              </a:rP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3632" y="4133087"/>
            <a:ext cx="72237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Rol y estado actuales.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5528" y="4727448"/>
            <a:ext cx="1043330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5528" y="4873752"/>
            <a:ext cx="566928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E6762F"/>
                </a:solidFill>
                <a:latin typeface="Segoe U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8176" y="4873752"/>
            <a:ext cx="2615184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400" b="1">
                <a:solidFill>
                  <a:srgbClr val="66DDD0"/>
                </a:solidFill>
                <a:latin typeface="Segoe UI"/>
              </a:rPr>
              <a:t>Cambio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4873752"/>
            <a:ext cx="7223760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F4FAF9"/>
                </a:solidFill>
                <a:latin typeface="Segoe UI"/>
              </a:rPr>
              <a:t>Hash y versión juntos; token viejo → 401.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916168"/>
            <a:ext cx="10405872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C5DFDC"/>
                </a:solidFill>
                <a:latin typeface="Segoe UI"/>
              </a:rPr>
              <a:t>Logout borra el token local; no revoca una sesión individual.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Defensa por capas, con límites claros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Cabeceras y controles de acceso cumplen funciones distintas.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5  · 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10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43784"/>
            <a:ext cx="3401568" cy="4480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66DDD0"/>
                </a:solidFill>
                <a:latin typeface="Segoe UI"/>
              </a:rPr>
              <a:t>NAVEGADOR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3383280"/>
            <a:ext cx="3246120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3630168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87952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CORS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45736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Helmet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2843784"/>
            <a:ext cx="3401568" cy="4480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66DDD0"/>
                </a:solidFill>
                <a:latin typeface="Segoe UI"/>
              </a:rPr>
              <a:t>API Y DATOS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99432" y="3383280"/>
            <a:ext cx="3246120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99432" y="3630168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IDOR por recurso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4187952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Prisma y validación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4745736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Gitleaks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2843784"/>
            <a:ext cx="3401568" cy="4480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1">
                <a:solidFill>
                  <a:srgbClr val="66DDD0"/>
                </a:solidFill>
                <a:latin typeface="Segoe UI"/>
              </a:rPr>
              <a:t>OPERACIÓN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375904" y="3383280"/>
            <a:ext cx="3246120" cy="0"/>
          </a:xfrm>
          <a:prstGeom prst="line">
            <a:avLst/>
          </a:prstGeom>
          <a:ln w="25400">
            <a:solidFill>
              <a:srgbClr val="E676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75904" y="3630168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TLS observado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4187952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PostgreSQL: regla /32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4745736"/>
            <a:ext cx="3319272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Observatory A+: cabeceras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5879592"/>
            <a:ext cx="10424160" cy="3931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800" b="0">
                <a:solidFill>
                  <a:srgbClr val="C5DFDC"/>
                </a:solidFill>
                <a:latin typeface="Segoe UI"/>
              </a:rPr>
              <a:t>A+ no certifica la aplicación; los permisos se verifican en la API.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EVIDENCIA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Resultados medidos y recuperación comprobada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Verificaciones históricas de backend, PostgreSQL y frontend.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6  ·  1/2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11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42616"/>
            <a:ext cx="3291840" cy="76809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4700" b="1">
                <a:solidFill>
                  <a:srgbClr val="66DDD0"/>
                </a:solidFill>
                <a:latin typeface="Segoe UI"/>
              </a:rPr>
              <a:t>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383280" cy="5486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1">
                <a:solidFill>
                  <a:srgbClr val="F4FAF9"/>
                </a:solidFill>
                <a:latin typeface="Segoe UI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42616"/>
            <a:ext cx="3291840" cy="76809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4700" b="1">
                <a:solidFill>
                  <a:srgbClr val="66DDD0"/>
                </a:solidFill>
                <a:latin typeface="Segoe UI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520440"/>
            <a:ext cx="3383280" cy="5486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1">
                <a:solidFill>
                  <a:srgbClr val="F4FAF9"/>
                </a:solidFill>
                <a:latin typeface="Segoe UI"/>
              </a:rPr>
              <a:t>con 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2642616"/>
            <a:ext cx="3291840" cy="76809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4700" b="1">
                <a:solidFill>
                  <a:srgbClr val="66DDD0"/>
                </a:solidFill>
                <a:latin typeface="Segoe UI"/>
              </a:rPr>
              <a:t>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3520440"/>
            <a:ext cx="3383280" cy="54864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1">
                <a:solidFill>
                  <a:srgbClr val="F4FAF9"/>
                </a:solidFill>
                <a:latin typeface="Segoe UI"/>
              </a:rPr>
              <a:t>frontend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315968"/>
            <a:ext cx="10424160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32104" y="4553712"/>
            <a:ext cx="10570464" cy="48463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100" b="1">
                <a:solidFill>
                  <a:srgbClr val="F4FAF9"/>
                </a:solidFill>
                <a:latin typeface="Segoe UI"/>
              </a:rPr>
              <a:t>k6 local · 30 VU · 14 796 solicitudes · 183,41 RPS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5074920"/>
            <a:ext cx="10561320" cy="4206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C5DFDC"/>
                </a:solidFill>
                <a:latin typeface="Segoe UI"/>
              </a:rPr>
              <a:t>p95 18,70 ms  ·  p99 30,38 ms  ·  0 % fallos / 0 HTTP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" y="5715000"/>
            <a:ext cx="10570464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800" b="0">
                <a:solidFill>
                  <a:srgbClr val="E6762F"/>
                </a:solidFill>
                <a:latin typeface="Segoe UI"/>
              </a:rPr>
              <a:t>Respaldo restaurado en base aislada: esquema, migraciones y login verificados.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F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6126480" cy="29260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200" b="1">
                <a:solidFill>
                  <a:srgbClr val="66DDD0"/>
                </a:solidFill>
                <a:latin typeface="Segoe UI"/>
              </a:rPr>
              <a:t>SIGA  /  SISTEMA DE GESTIÓN ACADÉMICA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46336" y="265176"/>
            <a:ext cx="2130552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320040"/>
            <a:ext cx="1984248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987552"/>
            <a:ext cx="10881360" cy="27432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500" b="1">
                <a:solidFill>
                  <a:srgbClr val="E6762F"/>
                </a:solidFill>
                <a:latin typeface="Segoe UI"/>
              </a:rPr>
              <a:t>CIERRE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6400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3600" b="1">
                <a:solidFill>
                  <a:srgbClr val="F4FAF9"/>
                </a:solidFill>
                <a:latin typeface="Segoe UI"/>
              </a:rPr>
              <a:t>Un producto académico demostrable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10789920" cy="45720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000" b="0">
                <a:solidFill>
                  <a:srgbClr val="C5DFDC"/>
                </a:solidFill>
                <a:latin typeface="Segoe UI"/>
              </a:rPr>
              <a:t>Controles comprobados y mejoras pendientes, sin prometer seguridad absoluta.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19088"/>
            <a:ext cx="10936224" cy="0"/>
          </a:xfrm>
          <a:prstGeom prst="line">
            <a:avLst/>
          </a:prstGeom>
          <a:ln w="127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457200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100" b="1">
                <a:solidFill>
                  <a:srgbClr val="C5DFDC"/>
                </a:solidFill>
                <a:latin typeface="Segoe UI"/>
              </a:rPr>
              <a:t>INTEGRANTE 6  · 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05840" cy="182880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r"/>
            <a:r>
              <a:rPr sz="1100" b="1">
                <a:solidFill>
                  <a:srgbClr val="C5DFDC"/>
                </a:solidFill>
                <a:latin typeface="Segoe UI"/>
              </a:rPr>
              <a:t>12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724912"/>
            <a:ext cx="3474720" cy="48463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Logrado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3255264"/>
            <a:ext cx="3474720" cy="6675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Flujo completo entre roles y registros.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2724912"/>
            <a:ext cx="3474720" cy="48463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E6762F"/>
                </a:solidFill>
                <a:latin typeface="Segoe UI"/>
              </a:rPr>
              <a:t>Pendiente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3255264"/>
            <a:ext cx="3474720" cy="6675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ZAP, auditoría y respaldos automatizados.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2724912"/>
            <a:ext cx="3566160" cy="48463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2700" b="1">
                <a:solidFill>
                  <a:srgbClr val="66DDD0"/>
                </a:solidFill>
                <a:latin typeface="Segoe UI"/>
              </a:rPr>
              <a:t>Criterio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7536" y="3255264"/>
            <a:ext cx="3566160" cy="6675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Medir, restaurar y reconocer límites.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104" y="4297680"/>
            <a:ext cx="10433304" cy="0"/>
          </a:xfrm>
          <a:prstGeom prst="line">
            <a:avLst/>
          </a:prstGeom>
          <a:ln w="25400">
            <a:solidFill>
              <a:srgbClr val="3A70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32104" y="4617720"/>
            <a:ext cx="10552176" cy="43891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F4FAF9"/>
                </a:solidFill>
                <a:latin typeface="Segoe UI"/>
              </a:rPr>
              <a:t>K6 fue local; A+ evalúa cabeceras; logout no revoca cada JWT.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5212080"/>
            <a:ext cx="10552176" cy="621792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/>
            <a:r>
              <a:rPr sz="1900" b="0">
                <a:solidFill>
                  <a:srgbClr val="C5DFDC"/>
                </a:solidFill>
                <a:latin typeface="Segoe UI"/>
              </a:rPr>
              <a:t>Un 503 y un timeout se observaron por separado; su causa no está confirmada.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
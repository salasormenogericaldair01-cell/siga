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1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PROBLEMA Y 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SIGA ya conecta la vida académica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Del registro del estudiante al seguimiento por curso y sección.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01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04288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FAF9"/>
                </a:solidFill>
                <a:latin typeface="Segoe UI"/>
              </a:rPr>
              <a:t>Una institución necesita datos consistentes, permisos claros y consulta oportuna.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5760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5D2D1"/>
                </a:solidFill>
                <a:latin typeface="Segoe UI"/>
              </a:rPr>
              <a:t>SIGA reúne usuarios, estructura académica, matrículas, asignaciones, calificaciones y asistencia en una aplicación web.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983480"/>
            <a:ext cx="4370832" cy="34747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5033772"/>
            <a:ext cx="4224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AF9"/>
                </a:solidFill>
                <a:latin typeface="Segoe UI"/>
              </a:rPr>
              <a:t>Inicial · Primaria · Secundaria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14884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7CB"/>
                </a:solidFill>
                <a:latin typeface="Segoe UI"/>
              </a:rPr>
              <a:t>Vista actual del panel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2976" y="2478024"/>
            <a:ext cx="5907024" cy="3355848"/>
          </a:xfrm>
          <a:prstGeom prst="roundRect">
            <a:avLst>
              <a:gd name="adj" fmla="val 10000"/>
            </a:avLst>
          </a:prstGeom>
          <a:solidFill>
            <a:srgbClr val="F5FAF9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nel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2514600"/>
            <a:ext cx="5833872" cy="32826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41264" y="5961888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D2D1"/>
                </a:solidFill>
                <a:latin typeface="Segoe UI"/>
              </a:rPr>
              <a:t>El producto es académico; no sustituye SIAGIE.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1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ARQUITECTURA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Tres capas, una regla coherente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La interfaz guía; la API autoriza; PostgreSQL sostiene la integridad.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02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68880"/>
            <a:ext cx="3310128" cy="235915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React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2761488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Pantallas por rol, formularios, filtros y sesiones visibles.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246120"/>
            <a:ext cx="356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ED7CB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1416" y="2468880"/>
            <a:ext cx="3310128" cy="235915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27157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145536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Express + Prisma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730752"/>
            <a:ext cx="2761488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JWT, Zod, reglas de negocio y alcance por recurso.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3246120"/>
            <a:ext cx="3566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6ED7CB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2468880"/>
            <a:ext cx="3310128" cy="235915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27157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3145536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730752"/>
            <a:ext cx="2761488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Relaciones, unicidad, claves compuestas y migraciones.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30368"/>
            <a:ext cx="10890504" cy="621792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4"/>
            <a:ext cx="103327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Ejemplo verificable: una nota de otra sección se rechaza en la API y por restricción de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2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AUTORIZACIÓN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Los permisos se deciden en la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Cuatro roles y alcances diferentes sobre los mismos registros.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03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31720"/>
            <a:ext cx="10890504" cy="64008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331720"/>
            <a:ext cx="91440" cy="64008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87168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ED7CB"/>
                </a:solidFill>
                <a:latin typeface="Segoe UI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468879"/>
            <a:ext cx="8055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Usuarios y estructura; gestiona matrículas y corrige registros.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63824"/>
            <a:ext cx="10890504" cy="640080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163824"/>
            <a:ext cx="91440" cy="64008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19272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ED7CB"/>
                </a:solidFill>
                <a:latin typeface="Segoe UI"/>
              </a:rPr>
              <a:t>SECRETARÍA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300984"/>
            <a:ext cx="8055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Gestiona estructura y matrículas; consulta notas y asistencia.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95928"/>
            <a:ext cx="10890504" cy="64008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95928"/>
            <a:ext cx="91440" cy="640080"/>
          </a:xfrm>
          <a:prstGeom prst="rect">
            <a:avLst/>
          </a:prstGeom>
          <a:solidFill>
            <a:srgbClr val="F2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151376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A35D"/>
                </a:solidFill>
                <a:latin typeface="Segoe UI"/>
              </a:rPr>
              <a:t>DOCENTE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672" y="4133088"/>
            <a:ext cx="8055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Ve su asignación y registra notas o asistencia de esa aula.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28031"/>
            <a:ext cx="10890504" cy="640080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828031"/>
            <a:ext cx="91440" cy="640080"/>
          </a:xfrm>
          <a:prstGeom prst="rect">
            <a:avLst/>
          </a:prstGeom>
          <a:solidFill>
            <a:srgbClr val="F2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983479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A35D"/>
                </a:solidFill>
                <a:latin typeface="Segoe UI"/>
              </a:rPr>
              <a:t>ESTUDIANTE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4965192"/>
            <a:ext cx="8055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Consulta solo sus calificaciones y asistencias vinculadas.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925312"/>
            <a:ext cx="10890504" cy="329184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989320"/>
            <a:ext cx="10469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D2D1"/>
                </a:solidFill>
                <a:latin typeface="Segoe UI"/>
              </a:rPr>
              <a:t>Listados, conteos, detalles y ediciones aplican el alcance antes de responder.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2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AUTENTICACIÓN Y SESIÓN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Una contraseña nueva invalida los JWT anteriores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La cuenta activa, el rol y la versión se consultan en cada petición protegida.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04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68296"/>
            <a:ext cx="6263640" cy="352044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1518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CAMBIO ATÓMICO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63240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5FAF9"/>
                </a:solidFill>
                <a:latin typeface="Segoe UI"/>
              </a:rPr>
              <a:t>JWT v0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26664"/>
            <a:ext cx="64008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ED7CB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063240"/>
            <a:ext cx="24688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ED7CB"/>
                </a:solidFill>
                <a:latin typeface="Segoe UI"/>
              </a:rPr>
              <a:t>Cuenta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41063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5FAF9"/>
                </a:solidFill>
                <a:latin typeface="Segoe UI"/>
              </a:rPr>
              <a:t>Hash bcrypt actualizado + tokenVersion incrementado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983480"/>
            <a:ext cx="2578608" cy="347472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033772"/>
            <a:ext cx="243230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A35D"/>
                </a:solidFill>
                <a:latin typeface="Segoe UI"/>
              </a:rPr>
              <a:t>JWT anterior → 401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965192"/>
            <a:ext cx="27249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El logout solo borra la sesión local; no revoca un JWT individual.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36829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Mi perfil: solo nombres propios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2706624"/>
            <a:ext cx="4151376" cy="2368296"/>
          </a:xfrm>
          <a:prstGeom prst="roundRect">
            <a:avLst>
              <a:gd name="adj" fmla="val 10000"/>
            </a:avLst>
          </a:prstGeom>
          <a:solidFill>
            <a:srgbClr val="F5FAF9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i-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743200"/>
            <a:ext cx="4078224" cy="22951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42631" y="5257800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Correo, rol, estado y contraseña quedan fuera de esa pantalla.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3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GESTIÓN ACADÉMICA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El aula siempre tiene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Periodo, nivel, grado y sección forman una estructura consultable.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05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10698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FAF9"/>
                </a:solidFill>
                <a:latin typeface="Segoe UI"/>
              </a:rPr>
              <a:t>Periodo académico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2734056"/>
            <a:ext cx="0" cy="329184"/>
          </a:xfrm>
          <a:prstGeom prst="line">
            <a:avLst/>
          </a:prstGeom>
          <a:ln w="25400">
            <a:solidFill>
              <a:srgbClr val="6E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68880" y="3063240"/>
            <a:ext cx="7251192" cy="0"/>
          </a:xfrm>
          <a:prstGeom prst="line">
            <a:avLst/>
          </a:prstGeom>
          <a:ln w="25400">
            <a:solidFill>
              <a:srgbClr val="6E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414016" y="3063240"/>
            <a:ext cx="0" cy="274320"/>
          </a:xfrm>
          <a:prstGeom prst="line">
            <a:avLst/>
          </a:prstGeom>
          <a:ln w="25400">
            <a:solidFill>
              <a:srgbClr val="6E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346704"/>
            <a:ext cx="3364992" cy="153619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602736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Inicial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50791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3 grados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4165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3, 4 y 5 años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7608" y="3063240"/>
            <a:ext cx="0" cy="274320"/>
          </a:xfrm>
          <a:prstGeom prst="line">
            <a:avLst/>
          </a:prstGeom>
          <a:ln w="25400">
            <a:solidFill>
              <a:srgbClr val="6E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25112" y="3346704"/>
            <a:ext cx="3364992" cy="153619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602736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Primaria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50791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6 grados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165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1.º a 6.º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3063240"/>
            <a:ext cx="0" cy="274320"/>
          </a:xfrm>
          <a:prstGeom prst="line">
            <a:avLst/>
          </a:prstGeom>
          <a:ln w="25400">
            <a:solidFill>
              <a:srgbClr val="6E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18704" y="3346704"/>
            <a:ext cx="3364992" cy="153619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3602736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5FAF9"/>
                </a:solidFill>
                <a:latin typeface="Segoe UI"/>
              </a:rPr>
              <a:t>Secundaria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4050791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5 grados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4165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1.º a 5.º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85232"/>
            <a:ext cx="10561320" cy="621792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449824"/>
            <a:ext cx="100949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AF9"/>
                </a:solidFill>
                <a:latin typeface="Segoe UI"/>
              </a:rPr>
              <a:t>Una sección pertenece a un grado y a un periodo: 1.º A de 2026 y 1.º A de 2027 son registros distintos.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3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IDENTIFICACIÓN DEL ESTUDIANTE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En Matrículas se reconoce a la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El nombre de la ficha Student es principal; el código ayuda a identificarla.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06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468880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6E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560320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50592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AF9"/>
                </a:solidFill>
                <a:latin typeface="Segoe UI"/>
              </a:rPr>
              <a:t>Nombre completo primero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770632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D2D1"/>
                </a:solidFill>
                <a:latin typeface="Segoe UI"/>
              </a:rPr>
              <a:t>Procede de Student, incluso sin cuenta User.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35112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F2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02736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A35D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93008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AF9"/>
                </a:solidFill>
                <a:latin typeface="Segoe UI"/>
              </a:rPr>
              <a:t>Código debajo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81304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D2D1"/>
                </a:solidFill>
                <a:latin typeface="Segoe UI"/>
              </a:rPr>
              <a:t>Permite distinguir registros con nombres similares.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4553712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6E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4645152"/>
            <a:ext cx="475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35424"/>
            <a:ext cx="30906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AF9"/>
                </a:solidFill>
                <a:latin typeface="Segoe UI"/>
              </a:rPr>
              <a:t>Una matrícula por periodo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55464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5D2D1"/>
                </a:solidFill>
                <a:latin typeface="Segoe UI"/>
              </a:rPr>
              <a:t>La anterior se reactiva; no se duplica.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167128"/>
            <a:ext cx="6775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7CB"/>
                </a:solidFill>
                <a:latin typeface="Segoe UI"/>
              </a:rPr>
              <a:t>Vista actual de Matrículas · datos ilustrativos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2487168"/>
            <a:ext cx="6803136" cy="3858768"/>
          </a:xfrm>
          <a:prstGeom prst="roundRect">
            <a:avLst>
              <a:gd name="adj" fmla="val 10000"/>
            </a:avLst>
          </a:prstGeom>
          <a:solidFill>
            <a:srgbClr val="F5FAF9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ric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523744"/>
            <a:ext cx="6729984" cy="3785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4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CURSOS Y DOCENCIA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La asignación une curso, aula y docente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El periodo se obtiene desde la sección; el docente actual define el acceso.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07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43200"/>
            <a:ext cx="2852928" cy="107899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16936"/>
            <a:ext cx="23957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ED7CB"/>
                </a:solidFill>
                <a:latin typeface="Segoe UI"/>
              </a:rPr>
              <a:t>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8688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AF9"/>
                </a:solidFill>
                <a:latin typeface="Segoe UI"/>
              </a:rPr>
              <a:t>Matemática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523744"/>
            <a:ext cx="2852928" cy="1517904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25400">
            <a:solidFill>
              <a:srgbClr val="6ED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7980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ED7CB"/>
                </a:solidFill>
                <a:latin typeface="Segoe UI"/>
              </a:rPr>
              <a:t>ASIGNACIÓN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18688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AF9"/>
                </a:solidFill>
                <a:latin typeface="Segoe UI"/>
              </a:rPr>
              <a:t>Curso + sección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743200"/>
            <a:ext cx="2852928" cy="1078992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2916936"/>
            <a:ext cx="238658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ED7CB"/>
                </a:solidFill>
                <a:latin typeface="Segoe UI"/>
              </a:rPr>
              <a:t>Sección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3218688"/>
            <a:ext cx="2377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AF9"/>
                </a:solidFill>
                <a:latin typeface="Segoe UI"/>
              </a:rPr>
              <a:t>1.º A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2999232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A35D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999232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2A35D"/>
                </a:solidFill>
                <a:latin typeface="Segoe UI"/>
              </a:rPr>
              <a:t>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0944" y="4645152"/>
            <a:ext cx="6245352" cy="96012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4846320"/>
            <a:ext cx="20025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ED7CB"/>
                </a:solidFill>
                <a:latin typeface="Segoe UI"/>
              </a:rPr>
              <a:t>Docente 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800600"/>
            <a:ext cx="38313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Cambiarlo conserva registros y revoca el acceso anterior.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79592"/>
            <a:ext cx="10680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Un curso se asigna una sola vez a cada sección.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4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REGISTROS ACADÉMICOS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El seguimiento pertenece al aula correcta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Nota y asistencia relacionan matrícula y asignación de la misma sección.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08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5202936" cy="301752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7CB"/>
                </a:solidFill>
                <a:latin typeface="Segoe UI"/>
              </a:rPr>
              <a:t>CALIFICACIÓN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55264"/>
            <a:ext cx="453542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AD  ·  A  ·  B  · 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9663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5D2D1"/>
                </a:solidFill>
                <a:latin typeface="Segoe UI"/>
              </a:rPr>
              <a:t>Una calificación por curso, matrícula y bimestre (1–4).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432304"/>
            <a:ext cx="5202936" cy="3017520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71576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ASISTENCIA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255264"/>
            <a:ext cx="45262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AF9"/>
                </a:solidFill>
                <a:latin typeface="Segoe UI"/>
              </a:rPr>
              <a:t>Fecha del periodo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78808"/>
            <a:ext cx="4517136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5D2D1"/>
                </a:solidFill>
                <a:latin typeface="Segoe UI"/>
              </a:rPr>
              <a:t>Presente · Ausente · Tarde · Justificada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650992"/>
            <a:ext cx="10808208" cy="502920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06440"/>
            <a:ext cx="10314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5FAF9"/>
                </a:solidFill>
                <a:latin typeface="Segoe UI"/>
              </a:rPr>
              <a:t>Si una matrícula ya tiene registros, el traslado a otra sección se rechaza con 409.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5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PROTECCIÓN DE DATOS Y NORMATIVA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Las normas orientan; el software no certifica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Controles observables y brechas documentadas para Educación Básica.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09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76856"/>
            <a:ext cx="10826496" cy="106070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23160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DATOS PERSONALES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706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Ley 29733 · D. S. 016-2024-JUS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441448"/>
            <a:ext cx="32095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Roles, alcance y respuestas seguras.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441448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2A35D"/>
                </a:solidFill>
                <a:latin typeface="Segoe UI"/>
              </a:rPr>
              <a:t>Faltan políticas y procedimientos institucionales.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93008"/>
            <a:ext cx="10826496" cy="1060704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39312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MATRÍCULA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986784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R. M. 010-2026-MINEDU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657600"/>
            <a:ext cx="32095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Periodo, sección y unicidad por estudiante.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3657600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2A35D"/>
                </a:solidFill>
                <a:latin typeface="Segoe UI"/>
              </a:rPr>
              <a:t>No implementa el procedimiento oficial ni SIAGIE.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09160"/>
            <a:ext cx="10826496" cy="106070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85546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ED7CB"/>
                </a:solidFill>
                <a:latin typeface="Segoe UI"/>
              </a:rPr>
              <a:t>EVALUACIÓN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202936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R. V. M. 094-2020 y 048-2024-MINEDU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0208" y="4873752"/>
            <a:ext cx="32095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Valores AD/A/B/C por bimestre.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4873752"/>
            <a:ext cx="377647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2A35D"/>
                </a:solidFill>
                <a:latin typeface="Segoe UI"/>
              </a:rPr>
              <a:t>No evalúa competencias ni emite resultados oficiales.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6126480"/>
            <a:ext cx="10753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Proyecto académico: no acredita cumplimiento legal ni reemplaza SIAGIE.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5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SEGURIDAD APLICADA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Los rechazos también son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El backend aplica controles aunque se evite la interfaz.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10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404872"/>
            <a:ext cx="3383280" cy="224942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42616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ED7CB"/>
                </a:solidFill>
                <a:latin typeface="Segoe UI"/>
              </a:rPr>
              <a:t>401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74136"/>
            <a:ext cx="2807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AF9"/>
                </a:solidFill>
                <a:latin typeface="Segoe UI"/>
              </a:rPr>
              <a:t>Sin sesión válida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877056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JWT ausente, vencido o revocado.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404872"/>
            <a:ext cx="3383280" cy="224942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642616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6ED7CB"/>
                </a:solidFill>
                <a:latin typeface="Segoe UI"/>
              </a:rPr>
              <a:t>403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3374136"/>
            <a:ext cx="2807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AF9"/>
                </a:solidFill>
                <a:latin typeface="Segoe UI"/>
              </a:rPr>
              <a:t>Fuera del alcance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3877056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Un docente intenta abrir el curso de otro.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2404872"/>
            <a:ext cx="3383280" cy="224942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642616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2A35D"/>
                </a:solidFill>
                <a:latin typeface="Segoe UI"/>
              </a:rPr>
              <a:t>409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5" y="3374136"/>
            <a:ext cx="2807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AF9"/>
                </a:solidFill>
                <a:latin typeface="Segoe UI"/>
              </a:rPr>
              <a:t>Conflicto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3877056"/>
            <a:ext cx="280720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5D2D1"/>
                </a:solidFill>
                <a:latin typeface="Segoe UI"/>
              </a:rPr>
              <a:t>Matrícula duplicada o traslado incompatible.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5038344"/>
            <a:ext cx="10863072" cy="1005840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303520"/>
            <a:ext cx="23957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AF9"/>
                </a:solidFill>
                <a:latin typeface="Segoe UI"/>
              </a:rPr>
              <a:t>bcrypt · máximo 72 bytes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5303520"/>
            <a:ext cx="1856231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AF9"/>
                </a:solidFill>
                <a:latin typeface="Segoe UI"/>
              </a:rPr>
              <a:t>Zod estricto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5303520"/>
            <a:ext cx="203911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AF9"/>
                </a:solidFill>
                <a:latin typeface="Segoe UI"/>
              </a:rPr>
              <a:t>Helmet + CORS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5303520"/>
            <a:ext cx="264261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5FAF9"/>
                </a:solidFill>
                <a:latin typeface="Segoe UI"/>
              </a:rPr>
              <a:t>Límite de intentos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6 ·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DESPLIEGUE Y EVIDENCIA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La demo está desplegada y se prueba por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Frontend, API y base separados; las pruebas de escritura usan siga_test.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11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95728"/>
            <a:ext cx="5148072" cy="3529584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3405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ED7CB"/>
                </a:solidFill>
                <a:latin typeface="Segoe UI"/>
              </a:rPr>
              <a:t>Vercel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75234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React +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3200400"/>
            <a:ext cx="4297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2A35D"/>
                </a:solidFill>
                <a:latin typeface="Segoe U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845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ED7CB"/>
                </a:solidFill>
                <a:latin typeface="Segoe UI"/>
              </a:rP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66674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Express + Prisma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4114800"/>
            <a:ext cx="4297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2A35D"/>
                </a:solidFill>
                <a:latin typeface="Segoe U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6285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ED7CB"/>
                </a:solidFill>
                <a:latin typeface="Segoe UI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58114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Base de demostración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2395728"/>
            <a:ext cx="5294376" cy="3529584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06624"/>
            <a:ext cx="4306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EVIDENCIA DEL REPOSITORIO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127248"/>
            <a:ext cx="3200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3108960"/>
            <a:ext cx="415137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Jest + Supertest: reglas y permisos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730752"/>
            <a:ext cx="3200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3712463"/>
            <a:ext cx="415137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PostgreSQL siga_test: integridad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4334256"/>
            <a:ext cx="3200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4315968"/>
            <a:ext cx="415137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Vitest + build: interfaz y sesión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4937760"/>
            <a:ext cx="3200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919472"/>
            <a:ext cx="415137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AF9"/>
                </a:solidFill>
                <a:latin typeface="Segoe UI"/>
              </a:rPr>
              <a:t>Playwright + Edge: flujos por 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6117336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5D2D1"/>
                </a:solidFill>
                <a:latin typeface="Segoe UI"/>
              </a:rPr>
              <a:t>La demo usa datos ficticios; no es un servicio listo para producción.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D7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3200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ED7CB"/>
                </a:solidFill>
                <a:latin typeface="Segoe UI"/>
              </a:rPr>
              <a:t>SIGA  /  SISTEMA DE GESTIÓN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3200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5D2D1"/>
                </a:solidFill>
                <a:latin typeface="Segoe UI"/>
              </a:rPr>
              <a:t>INTEGRANTE 6 ·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4980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0515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5FAF9"/>
                </a:solidFill>
                <a:latin typeface="Segoe UI"/>
              </a:rPr>
              <a:t>SIGA demuestra el flujo; quedan deberes reales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5D2D1"/>
                </a:solidFill>
                <a:latin typeface="Segoe UI"/>
              </a:rPr>
              <a:t>El siguiente paso es fortalecer operación y evaluación, sin confundir la demo con SIAGIE.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6492240"/>
            <a:ext cx="11018520" cy="0"/>
          </a:xfrm>
          <a:prstGeom prst="line">
            <a:avLst/>
          </a:prstGeom>
          <a:ln w="10160">
            <a:solidFill>
              <a:srgbClr val="3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65392"/>
            <a:ext cx="73152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Proyecto académico · datos ilustrativos en capturas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65392"/>
            <a:ext cx="9418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5D2D1"/>
                </a:solidFill>
                <a:latin typeface="Segoe UI"/>
              </a:rPr>
              <a:t>12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5202936" cy="3401568"/>
          </a:xfrm>
          <a:prstGeom prst="roundRect">
            <a:avLst>
              <a:gd name="adj" fmla="val 10000"/>
            </a:avLst>
          </a:prstGeom>
          <a:solidFill>
            <a:srgbClr val="16434B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6791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ED7CB"/>
                </a:solidFill>
                <a:latin typeface="Segoe UI"/>
              </a:rPr>
              <a:t>YA CONSTRUIDO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218688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236976"/>
            <a:ext cx="410565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Matrícula conectada con el aula.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13632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931920"/>
            <a:ext cx="410565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Acceso por rol y por recurso.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60857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ED7CB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626864"/>
            <a:ext cx="410565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Notas y asistencia con integridad.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377440"/>
            <a:ext cx="5202936" cy="3401568"/>
          </a:xfrm>
          <a:prstGeom prst="roundRect">
            <a:avLst>
              <a:gd name="adj" fmla="val 10000"/>
            </a:avLst>
          </a:prstGeom>
          <a:solidFill>
            <a:srgbClr val="103A43"/>
          </a:solidFill>
          <a:ln w="12700">
            <a:solidFill>
              <a:srgbClr val="3161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67919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A35D"/>
                </a:solidFill>
                <a:latin typeface="Segoe UI"/>
              </a:rPr>
              <a:t>PENDIENTE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218688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236976"/>
            <a:ext cx="408736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Auditoría persistente de cambios.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13632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3931920"/>
            <a:ext cx="408736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Respaldos y restauración ensayada.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608576"/>
            <a:ext cx="374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2A35D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4626864"/>
            <a:ext cx="408736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AF9"/>
                </a:solidFill>
                <a:latin typeface="Segoe UI"/>
              </a:rPr>
              <a:t>Modelo de evaluación por competencias.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6025896"/>
            <a:ext cx="10533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ED7CB"/>
                </a:solidFill>
                <a:latin typeface="Segoe UI"/>
              </a:rPr>
              <a:t>Una base académica funcional para demostrar reglas, límites y decisiones de seguridad.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